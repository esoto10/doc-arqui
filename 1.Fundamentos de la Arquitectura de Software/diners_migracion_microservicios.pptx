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203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RBqYLo61fQRpBZp3A8A7RTDfy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1A8E77-9902-451D-8A01-48EBA32C20D0}">
  <a:tblStyle styleId="{391A8E77-9902-451D-8A01-48EBA32C20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8" y="36"/>
      </p:cViewPr>
      <p:guideLst>
        <p:guide pos="1203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ea5d3e9db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3ea5d3e9db5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g3ea5d3e9db5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a5d3e9db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ea5d3e9db5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g3ea5d3e9db5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a5d3e9db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a5d3e9db5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ea5d3e9db5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a5d3e9db5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a5d3e9db5_3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ea5d3e9db5_3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8d4efe4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8d4efe4b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e8d4efe4b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8d4efe4b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8d4efe4bf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e8d4efe4bf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8d4efe4bf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8d4efe4bf_1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e8d4efe4bf_1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E590E5EF-540E-BB92-796D-9E33342B6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8d4efe4bf_1_13:notes">
            <a:extLst>
              <a:ext uri="{FF2B5EF4-FFF2-40B4-BE49-F238E27FC236}">
                <a16:creationId xmlns:a16="http://schemas.microsoft.com/office/drawing/2014/main" id="{6C30DF99-A010-B8A8-F46D-7789D6743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8d4efe4bf_1_13:notes">
            <a:extLst>
              <a:ext uri="{FF2B5EF4-FFF2-40B4-BE49-F238E27FC236}">
                <a16:creationId xmlns:a16="http://schemas.microsoft.com/office/drawing/2014/main" id="{7B24B905-E911-64F1-2C54-A9BB911F1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e8d4efe4bf_1_13:notes">
            <a:extLst>
              <a:ext uri="{FF2B5EF4-FFF2-40B4-BE49-F238E27FC236}">
                <a16:creationId xmlns:a16="http://schemas.microsoft.com/office/drawing/2014/main" id="{D49683B7-FDD3-9F55-6817-F46AC09954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0309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a5d3e9db5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a5d3e9db5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ea5d3e9db5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8d4efe4bf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3e8d4efe4bf_1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e8d4efe4bf_1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a5d3e9db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ea5d3e9db5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ea5d3e9db5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11157964/" TargetMode="External"/><Relationship Id="rId3" Type="http://schemas.openxmlformats.org/officeDocument/2006/relationships/hyperlink" Target="https://doi.org/10.1109/MS.2018.2141026" TargetMode="External"/><Relationship Id="rId7" Type="http://schemas.openxmlformats.org/officeDocument/2006/relationships/hyperlink" Target="https://ieeexplore.ieee.org/document/11157964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document/8354415/" TargetMode="External"/><Relationship Id="rId5" Type="http://schemas.openxmlformats.org/officeDocument/2006/relationships/hyperlink" Target="https://www.researchgate.net/publication/324959098" TargetMode="External"/><Relationship Id="rId4" Type="http://schemas.openxmlformats.org/officeDocument/2006/relationships/hyperlink" Target="https://ieeexplore.ieee.org/document/8354415" TargetMode="External"/><Relationship Id="rId9" Type="http://schemas.openxmlformats.org/officeDocument/2006/relationships/hyperlink" Target="https://www.sbs.gob.pe/boletin/detalleboletin/idbulletin/1147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9-9292/15/1/22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rn.microsoft.com/en-us/azure/architecture/reference-architectures/containers/aks/baseline-aks" TargetMode="External"/><Relationship Id="rId4" Type="http://schemas.openxmlformats.org/officeDocument/2006/relationships/hyperlink" Target="https://learn.microsoft.com/en-us/azure/architecture/reference-architectures/containers/aks-microservices/aks-microservice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1F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0880" y="457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088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04655" y="457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3880" y="13167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356615" y="256033"/>
            <a:ext cx="2194500" cy="274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56615" y="256033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ESTUDIO DE CASO · CLASE 3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56615" y="713233"/>
            <a:ext cx="6035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Migración de Arquitectura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77675" y="1458893"/>
            <a:ext cx="577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Monolítico</a:t>
            </a:r>
            <a:r>
              <a:rPr lang="en-US" sz="29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29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Microservicios + </a:t>
            </a:r>
            <a:r>
              <a:rPr lang="en-US" sz="2900" b="1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sz="2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20040" y="2311195"/>
            <a:ext cx="6035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Entidad Financiera</a:t>
            </a:r>
            <a:r>
              <a:rPr lang="en-US" sz="1300" b="0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· App de Tarjeta de Crédito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20040" y="3593176"/>
            <a:ext cx="3200400" cy="36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236915" y="3657600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Equipo 02: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190800" y="3772050"/>
            <a:ext cx="2743200" cy="12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Shanira Ramirez</a:t>
            </a:r>
            <a:endParaRPr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Lady Cupe</a:t>
            </a:r>
            <a:endParaRPr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Jonathan Barrientos</a:t>
            </a:r>
            <a:endParaRPr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Erickson Soto</a:t>
            </a:r>
            <a:endParaRPr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Arquitectura de Software · Universidad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5900" y="2464225"/>
            <a:ext cx="5598519" cy="25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g3ea5d3e9db5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g3ea5d3e9db5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676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AS-IS: Arquitectura Monolítica Actual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371600" y="960120"/>
            <a:ext cx="6400800" cy="2926080"/>
          </a:xfrm>
          <a:prstGeom prst="rect">
            <a:avLst/>
          </a:prstGeom>
          <a:solidFill>
            <a:srgbClr val="FFF5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371600" y="960120"/>
            <a:ext cx="64008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371600" y="9601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MONOLITO · Java 17 + Spring Boot · Deploy único (WAR)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600200" y="1463040"/>
            <a:ext cx="173736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1600200" y="146304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611880" y="1463040"/>
            <a:ext cx="173736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3611880" y="146304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Cuentas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623560" y="1463040"/>
            <a:ext cx="173736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623560" y="146304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600200" y="2286000"/>
            <a:ext cx="173736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600200" y="228600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Puntos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611880" y="2286000"/>
            <a:ext cx="1737360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3611880" y="228600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623560" y="2286000"/>
            <a:ext cx="173736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5623560" y="228600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Módulo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Onboard.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DB2</a:t>
            </a: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Centralizada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82880" y="3931920"/>
            <a:ext cx="8778240" cy="29260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82880" y="393192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  Problemas: Un fallo derriba toda la app  ·  Escala todo o nada (costoso)  ·  BD compartida: acoplamiento máximo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 del Sistema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 FUNCIONALES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74320" y="1417320"/>
            <a:ext cx="62179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274320" y="1417320"/>
            <a:ext cx="6217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RF-01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96112" y="1417320"/>
            <a:ext cx="340156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932688" y="1417320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Consulta de saldo y línea de crédito disponible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74320" y="1837944"/>
            <a:ext cx="62179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274320" y="1837944"/>
            <a:ext cx="6217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RF-02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96112" y="1837944"/>
            <a:ext cx="3401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32688" y="1837944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Visualización de estado de cuenta y movimientos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74320" y="2258568"/>
            <a:ext cx="62179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74320" y="2258568"/>
            <a:ext cx="6217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RF-03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96112" y="2258568"/>
            <a:ext cx="340156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932688" y="2258568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Pago de tarjeta desde cuenta bancaria vinculada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74320" y="2679192"/>
            <a:ext cx="62179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274320" y="2679192"/>
            <a:ext cx="6217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RF-04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96112" y="2679192"/>
            <a:ext cx="3401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932688" y="2679192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Canje de puntos por productos o cashback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74320" y="3099816"/>
            <a:ext cx="62179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74320" y="3099816"/>
            <a:ext cx="6217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RF-05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96112" y="3099816"/>
            <a:ext cx="340156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932688" y="3099816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Bloqueo/desbloqueo de tarjeta en tiempo real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74320" y="3520440"/>
            <a:ext cx="62179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274320" y="3520440"/>
            <a:ext cx="6217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RF-06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96112" y="3520440"/>
            <a:ext cx="3401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32688" y="3520440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Notificaciones push por transacción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74320" y="3941064"/>
            <a:ext cx="62179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74320" y="3941064"/>
            <a:ext cx="6217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RF-07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96112" y="3941064"/>
            <a:ext cx="340156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932688" y="3941064"/>
            <a:ext cx="33649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Onboarding digital de nuevos tarjetahabientes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 NO FUNCIONALES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846320" y="1417320"/>
            <a:ext cx="4023360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9472" y="14630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5193792" y="141732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Seguridad: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199632" y="1417320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PCI-DSS, OAuth2, JWT, cifrado TLS 1.3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846320" y="1837944"/>
            <a:ext cx="40233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9472" y="18836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/>
          <p:nvPr/>
        </p:nvSpPr>
        <p:spPr>
          <a:xfrm>
            <a:off x="5193792" y="183794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Rendimiento: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199632" y="1837944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&lt; 300ms p95, 5,000 TPS en pico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46320" y="2258568"/>
            <a:ext cx="4023360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19472" y="23042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/>
          <p:nvPr/>
        </p:nvSpPr>
        <p:spPr>
          <a:xfrm>
            <a:off x="5193792" y="225856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Disponibilidad: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199632" y="225856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99.9% SLA (regulación SBS)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846320" y="2679192"/>
            <a:ext cx="40233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19472" y="2724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5193792" y="267919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Escalabilidad: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199632" y="2679192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Escalado horizontal por servicio (AKS)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846320" y="3099816"/>
            <a:ext cx="4023360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19472" y="31455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5193792" y="309981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Consistencia: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199632" y="3099816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Eventual en lectura, fuerte en pagos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846320" y="3520440"/>
            <a:ext cx="40233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19472" y="35661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/>
          <p:nvPr/>
        </p:nvSpPr>
        <p:spPr>
          <a:xfrm>
            <a:off x="5193792" y="3520440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Auditoría: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199632" y="3520440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Log inmutable de todas las transacciones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846320" y="3941064"/>
            <a:ext cx="4023360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Google Shape;138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19472" y="398678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/>
          <p:nvPr/>
        </p:nvSpPr>
        <p:spPr>
          <a:xfrm>
            <a:off x="5193792" y="394106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Observabilidad: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199632" y="3941064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Trazas distribuidas, métricas, logs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a5d3e9db5_0_47"/>
          <p:cNvSpPr txBox="1"/>
          <p:nvPr/>
        </p:nvSpPr>
        <p:spPr>
          <a:xfrm>
            <a:off x="131800" y="932400"/>
            <a:ext cx="5482200" cy="3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Arquitecto de Software Principal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Lidera y documenta todos los ADRs del proyecto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Define la estrategia de migración Strangler Fig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Elabora diagramas AS-IS y TO-BE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Define contratos de API entre microservicios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Valida cumplimiento regulatorio SBS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Coordina con equipos de Redes y Seguridad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Punto de escalada ante conflictos técnicos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Arquitecto de Datos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Define Database per Service por microservicio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Documenta el ADR de transacciones distribuidas (Saga Pattern)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Diseña migración de datos desde AS400 DB2 a Azure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Diseña modelo de datos de cada microservicio nuevo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Garantiza logs de auditoría inmutables para la SBS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" name="Google Shape;148;g3ea5d3e9db5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4974" y="3148801"/>
            <a:ext cx="2485038" cy="1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ea5d3e9db5_0_47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a5d3e9db5_0_47"/>
          <p:cNvSpPr/>
          <p:nvPr/>
        </p:nvSpPr>
        <p:spPr>
          <a:xfrm>
            <a:off x="365760" y="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Roles del Equipo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a5d3e9db5_0_47"/>
          <p:cNvSpPr/>
          <p:nvPr/>
        </p:nvSpPr>
        <p:spPr>
          <a:xfrm>
            <a:off x="0" y="777240"/>
            <a:ext cx="9144000" cy="549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ea5d3e9db5_0_47"/>
          <p:cNvSpPr txBox="1"/>
          <p:nvPr/>
        </p:nvSpPr>
        <p:spPr>
          <a:xfrm>
            <a:off x="4362250" y="932400"/>
            <a:ext cx="47205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Desarrollador 1 — Backend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Extrae módulos del monolito Spring Boot Java 17 a microservicios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Desarrolla endpoints REST según contratos definidos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Configura Spring Actuator y Micrometer para métricas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Ejecuta pruebas de integración entre microservicios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Desarrollador 2 — DevOps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Provisiona cluster AKS con node pools System y User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Configura Azure Container Registry con Private Endpoint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• Implementa pipeline CI/CD en Azure DevOps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Configura Hub-Spoke con Firewall, Bastion y VPN Gateway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 Despliega Azure API Management y Azure Monitor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Google Shape;158;g3ea5d3e9db5_3_14"/>
          <p:cNvGraphicFramePr/>
          <p:nvPr/>
        </p:nvGraphicFramePr>
        <p:xfrm>
          <a:off x="152400" y="152400"/>
          <a:ext cx="8791575" cy="4991943"/>
        </p:xfrm>
        <a:graphic>
          <a:graphicData uri="http://schemas.openxmlformats.org/drawingml/2006/table">
            <a:tbl>
              <a:tblPr>
                <a:noFill/>
                <a:tableStyleId>{391A8E77-9902-451D-8A01-48EBA32C20D0}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Rol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Responsabilidades principales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Arquitecto de Software (Líder)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Define la arquitectura objetivo, microservicios, ADRs, estándares y roadmap de migración.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Arquitecto de Datos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Diseña la estrategia de migración de db2 AL, modelo Database per Service, consistencia de datos y patrones Saga.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Arquitecto Cloud / Infraestructura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Diseña la plataforma Azure (AKS, redes, seguridad, almacenamiento, alta disponibilidad y DR).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Arquitecto de Integración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Diseña APIs, API Gateway, eventos de Azure Service Bus y contratos entre microservicios.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Tech Lead Backend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Lidera el desarrollo de microservicios en Java 17 y Spring Boot.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Desarrolladores Backend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Construyen y migran funcionalidades del monolito a microservicios.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Ingeniero DevOps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Implementa CI/CD, Docker, Kubernetes, monitoreo y automatización.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DBA / Ingeniero de Datos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Ejecuta la migración de datos, optimización de bases de datos y monitoreo de integridad.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QA / Testing Engineer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Pruebas funcionales, integración, rendimiento y regresión.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65760" y="155864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Decisiones Arquitectónicas Principales (ADR)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78950" y="1228300"/>
            <a:ext cx="4305600" cy="1743600"/>
          </a:xfrm>
          <a:prstGeom prst="rect">
            <a:avLst/>
          </a:prstGeom>
          <a:solidFill>
            <a:srgbClr val="FAFAF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228600" y="960120"/>
            <a:ext cx="420624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20040" y="96012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ADR-01  ·  Estrategia de Migración: Strangler Fig e 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040" y="1344168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DECISIÓN: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20001" y="1641863"/>
            <a:ext cx="42063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Migración incremental: nuevas funcionalidades en microservicios, funcionalidades existentes se migran gradualmente por dominio.</a:t>
            </a:r>
            <a:endParaRPr sz="850" b="0" i="0" u="none" strike="noStrike" cap="non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Aprovechar el uso del agente GitHub copilot app modernization para automatizar la migración con planes personalizados para generación de código.</a:t>
            </a:r>
            <a:endParaRPr sz="8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endParaRPr sz="8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endParaRPr sz="8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20040" y="2167128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QUÉ: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20100" y="2378450"/>
            <a:ext cx="4023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Minimiza riesgo operacional. El monolito sigue funcionando mientras se migra. Permite rollback inmediato.</a:t>
            </a:r>
            <a:endParaRPr sz="8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Refactorizacion automática y  remediación de vulnerabilidades</a:t>
            </a:r>
            <a:endParaRPr sz="8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Generación de casos de prueba y cobertura de pruebas unitarias (junit)</a:t>
            </a:r>
            <a:endParaRPr sz="8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endParaRPr sz="8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709160" y="960120"/>
            <a:ext cx="4206240" cy="3291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800600" y="96012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ADR-02  ·  Comunicación: Síncrona (REST) + Asíncrona (A</a:t>
            </a: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zure API Management Services</a:t>
            </a: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800600" y="1344168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DECISIÓN: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800600" y="1508760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 para operaciones críticas en tiempo real (consulta de saldo, pagos). Azure Service Bus para eventos entre servicios (notificaciones, puntos).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800600" y="2148840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QUÉ: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800600" y="231343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Reduce acoplamiento temporal. Los servicios no necesitan estar disponibles simultáneamente para eventos no críticos.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28610" y="3209648"/>
            <a:ext cx="420630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182860" y="3209648"/>
            <a:ext cx="4206300" cy="329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274300" y="3209648"/>
            <a:ext cx="4023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ADR-0</a:t>
            </a: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Orquestación: </a:t>
            </a: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Kubernetes Service (AKS) </a:t>
            </a: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74300" y="3593696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DECISIÓN: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74300" y="3758288"/>
            <a:ext cx="3931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 adopta Azure Kubernetes Service (AKS) como plataforma de orquestación de contenedores para todos los microservicios de la arquitectura objetivo de la Entidad Financiera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74300" y="4398368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QUÉ: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74363" y="458126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Escalado horizontal automático por servicio</a:t>
            </a: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 Despliegues independientes y seguros.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732010" y="3211073"/>
            <a:ext cx="420630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>
            <a:outerShdw blurRad="635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686260" y="3211073"/>
            <a:ext cx="4206300" cy="329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4777700" y="3211073"/>
            <a:ext cx="4023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ADR-0</a:t>
            </a: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</a:t>
            </a:r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Estrategia de Migracion de Datos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777700" y="3595121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DECISIÓN: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777700" y="3759713"/>
            <a:ext cx="3931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Migrar gradualmente la base de datos Oracle centralizada hacia el patrón </a:t>
            </a: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per Service</a:t>
            </a:r>
            <a:r>
              <a:rPr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permitiendo que cada microservicio sea propietario de sus datos. Implementar una estrategia de coexistencia temporal entre Oracle y las nuevas bases de datos mediante </a:t>
            </a:r>
            <a:r>
              <a:rPr lang="en-US" sz="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doble escritura, sincronización controlada y reconciliación automática.</a:t>
            </a:r>
            <a:endParaRPr sz="8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777700" y="4399793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QUÉ: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777763" y="4582685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Elimina el acoplamiento generado por la base de datos compartida.</a:t>
            </a:r>
            <a:endParaRPr sz="8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Permite despliegues independientes por microservicio.</a:t>
            </a:r>
            <a:endParaRPr sz="8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Mejora la escalabilidad y resiliencia de la plataforma.</a:t>
            </a:r>
            <a:endParaRPr sz="8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Facilita la elección de la tecnología de almacenamiento adecuada para cada dominio.</a:t>
            </a:r>
            <a:endParaRPr sz="8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endParaRPr sz="8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8d4efe4bf_0_0"/>
          <p:cNvSpPr/>
          <p:nvPr/>
        </p:nvSpPr>
        <p:spPr>
          <a:xfrm>
            <a:off x="829725" y="0"/>
            <a:ext cx="8085600" cy="2788800"/>
          </a:xfrm>
          <a:prstGeom prst="rect">
            <a:avLst/>
          </a:prstGeom>
          <a:solidFill>
            <a:srgbClr val="FAFAFA"/>
          </a:solidFill>
          <a:ln>
            <a:noFill/>
          </a:ln>
          <a:effectLst>
            <a:outerShdw blurRad="96838" dist="38735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39425" tIns="139425" rIns="139425" bIns="139425" anchor="ctr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Exposición de microservicios hacia Internet, VPN S2S y on-premises (ExpressRoute).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Necesidad de un </a:t>
            </a:r>
            <a:r>
              <a:rPr lang="en-US" sz="1100" b="1">
                <a:solidFill>
                  <a:schemeClr val="dk1"/>
                </a:solidFill>
              </a:rPr>
              <a:t>punto único de entrada</a:t>
            </a:r>
            <a:r>
              <a:rPr lang="en-US" sz="1100">
                <a:solidFill>
                  <a:schemeClr val="dk1"/>
                </a:solidFill>
              </a:rPr>
              <a:t> para: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Centralizar gestión de tráfico API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Aplicar políticas de seguridad (auth, rate limiting, SSL/TLS)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Desacoplar consumidores externos del cluster AKS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Versionado sin ruptura de contratos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Trazabilidad completa para auditoría regulatoria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1" name="Google Shape;201;g3e8d4efe4bf_0_0"/>
          <p:cNvSpPr/>
          <p:nvPr/>
        </p:nvSpPr>
        <p:spPr>
          <a:xfrm>
            <a:off x="695675" y="0"/>
            <a:ext cx="8219700" cy="501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139425" tIns="139425" rIns="139425" bIns="13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e8d4efe4bf_0_0"/>
          <p:cNvSpPr/>
          <p:nvPr/>
        </p:nvSpPr>
        <p:spPr>
          <a:xfrm>
            <a:off x="928501" y="0"/>
            <a:ext cx="78474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Calibri"/>
              <a:buNone/>
            </a:pPr>
            <a:r>
              <a:rPr lang="en-US" sz="122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ADR-02  ·  Comunicación: Síncrona (REST) + Asíncrona (A</a:t>
            </a:r>
            <a:r>
              <a:rPr lang="en-US" sz="122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zure API Management Services</a:t>
            </a:r>
            <a:r>
              <a:rPr lang="en-US" sz="122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8d4efe4bf_0_9"/>
          <p:cNvSpPr/>
          <p:nvPr/>
        </p:nvSpPr>
        <p:spPr>
          <a:xfrm>
            <a:off x="829725" y="0"/>
            <a:ext cx="8085600" cy="2788800"/>
          </a:xfrm>
          <a:prstGeom prst="rect">
            <a:avLst/>
          </a:prstGeom>
          <a:solidFill>
            <a:srgbClr val="FAFAFA"/>
          </a:solidFill>
          <a:ln>
            <a:noFill/>
          </a:ln>
          <a:effectLst>
            <a:outerShdw blurRad="96838" dist="38735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139425" tIns="139425" rIns="139425" bIns="139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Decisión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🔐 Seguridad: autenticación y autorización centralizada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⚡ Control de tráfico: rate limiting y throttling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🔄 Desacoplamiento: ocultar topología interna del AKS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📚 Versionado: múltiples versiones de API coexistentes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👀 Observabilidad: integración con Azure Monitor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📖 Portal de desarrolladores: onboarding ágil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📑 Cumplimiento regulatorio: auditoría de llamadas API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9" name="Google Shape;209;g3e8d4efe4bf_0_9"/>
          <p:cNvSpPr/>
          <p:nvPr/>
        </p:nvSpPr>
        <p:spPr>
          <a:xfrm>
            <a:off x="695675" y="0"/>
            <a:ext cx="8219700" cy="501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139425" tIns="139425" rIns="139425" bIns="13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e8d4efe4bf_0_9"/>
          <p:cNvSpPr/>
          <p:nvPr/>
        </p:nvSpPr>
        <p:spPr>
          <a:xfrm>
            <a:off x="928501" y="0"/>
            <a:ext cx="78474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Calibri"/>
              <a:buNone/>
            </a:pPr>
            <a:r>
              <a:rPr lang="en-US" sz="122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ADR-02  ·  Comunicación: Síncrona (REST) + Asíncrona (A</a:t>
            </a:r>
            <a:r>
              <a:rPr lang="en-US" sz="122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zure API Management Services</a:t>
            </a:r>
            <a:r>
              <a:rPr lang="en-US" sz="122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e8d4efe4bf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5550" y="537175"/>
            <a:ext cx="3430349" cy="2286899"/>
          </a:xfrm>
          <a:prstGeom prst="rect">
            <a:avLst/>
          </a:prstGeom>
          <a:solidFill>
            <a:srgbClr val="FAFAFA"/>
          </a:solidFill>
          <a:ln>
            <a:noFill/>
          </a:ln>
          <a:effectLst>
            <a:outerShdw blurRad="96838" dist="38735" dir="8100000" algn="bl" rotWithShape="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g3e8d4efe4bf_1_13"/>
          <p:cNvGrpSpPr/>
          <p:nvPr/>
        </p:nvGrpSpPr>
        <p:grpSpPr>
          <a:xfrm>
            <a:off x="141321" y="51950"/>
            <a:ext cx="8900110" cy="443100"/>
            <a:chOff x="2261060" y="103898"/>
            <a:chExt cx="4206300" cy="329100"/>
          </a:xfrm>
        </p:grpSpPr>
        <p:sp>
          <p:nvSpPr>
            <p:cNvPr id="218" name="Google Shape;218;g3e8d4efe4bf_1_13"/>
            <p:cNvSpPr/>
            <p:nvPr/>
          </p:nvSpPr>
          <p:spPr>
            <a:xfrm>
              <a:off x="2261060" y="103898"/>
              <a:ext cx="4206300" cy="329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193450" tIns="193450" rIns="193450" bIns="193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g3e8d4efe4bf_1_13"/>
            <p:cNvSpPr/>
            <p:nvPr/>
          </p:nvSpPr>
          <p:spPr>
            <a:xfrm>
              <a:off x="2352500" y="103898"/>
              <a:ext cx="40233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>
                <a:buClr>
                  <a:srgbClr val="FFFFFF"/>
                </a:buClr>
                <a:buSzPts val="1693"/>
              </a:pPr>
              <a:r>
                <a:rPr lang="en-US" sz="1693" b="1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ADR-01  ·  </a:t>
              </a:r>
              <a:r>
                <a:rPr lang="es-PE" sz="1693" b="1" dirty="0">
                  <a:solidFill>
                    <a:srgbClr val="FFFFFF"/>
                  </a:solidFill>
                  <a:latin typeface="Calibri"/>
                  <a:cs typeface="Calibri"/>
                </a:rPr>
                <a:t>Estrategia de Migración </a:t>
              </a:r>
              <a:r>
                <a:rPr lang="es-PE" sz="1693" b="1" dirty="0" err="1">
                  <a:solidFill>
                    <a:srgbClr val="FFFFFF"/>
                  </a:solidFill>
                  <a:latin typeface="Calibri"/>
                  <a:cs typeface="Calibri"/>
                </a:rPr>
                <a:t>Strangler</a:t>
              </a:r>
              <a:r>
                <a:rPr lang="es-PE" sz="1693" b="1" dirty="0">
                  <a:solidFill>
                    <a:srgbClr val="FFFFFF"/>
                  </a:solidFill>
                  <a:latin typeface="Calibri"/>
                  <a:cs typeface="Calibri"/>
                </a:rPr>
                <a:t> Fig e IA</a:t>
              </a:r>
              <a:endParaRPr sz="1693" b="1" dirty="0">
                <a:solidFill>
                  <a:srgbClr val="FFFFFF"/>
                </a:solidFill>
                <a:latin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g3e8d4efe4bf_1_13"/>
          <p:cNvSpPr txBox="1"/>
          <p:nvPr/>
        </p:nvSpPr>
        <p:spPr>
          <a:xfrm>
            <a:off x="188225" y="616242"/>
            <a:ext cx="4083600" cy="23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dk1"/>
                </a:solidFill>
              </a:rPr>
              <a:t>Información</a:t>
            </a:r>
            <a:r>
              <a:rPr lang="en-US" b="1" dirty="0">
                <a:solidFill>
                  <a:schemeClr val="dk1"/>
                </a:solidFill>
              </a:rPr>
              <a:t> del </a:t>
            </a:r>
            <a:r>
              <a:rPr lang="en-US" b="1" dirty="0" err="1">
                <a:solidFill>
                  <a:schemeClr val="dk1"/>
                </a:solidFill>
              </a:rPr>
              <a:t>Documento</a:t>
            </a:r>
            <a:endParaRPr b="1" dirty="0">
              <a:solidFill>
                <a:schemeClr val="dk1"/>
              </a:solidFill>
            </a:endParaRPr>
          </a:p>
          <a:p>
            <a:pPr marL="457200" lvl="0" indent="-228600">
              <a:lnSpc>
                <a:spcPct val="115000"/>
              </a:lnSpc>
              <a:spcBef>
                <a:spcPts val="400"/>
              </a:spcBef>
            </a:pPr>
            <a:r>
              <a:rPr lang="en-US" sz="1100" dirty="0">
                <a:solidFill>
                  <a:schemeClr val="dk1"/>
                </a:solidFill>
              </a:rPr>
              <a:t>•</a:t>
            </a:r>
            <a:r>
              <a:rPr lang="en-US" sz="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 dirty="0" err="1">
                <a:solidFill>
                  <a:schemeClr val="dk1"/>
                </a:solidFill>
              </a:rPr>
              <a:t>Título</a:t>
            </a:r>
            <a:r>
              <a:rPr lang="en-US" sz="1100" b="1" dirty="0">
                <a:solidFill>
                  <a:schemeClr val="dk1"/>
                </a:solidFill>
              </a:rPr>
              <a:t>: </a:t>
            </a:r>
            <a:r>
              <a:rPr lang="es-PE" sz="1100" dirty="0">
                <a:solidFill>
                  <a:schemeClr val="dk1"/>
                </a:solidFill>
              </a:rPr>
              <a:t>Adopción de la estrategia de migración Stranger Fig y el uso de agente IA como facilitador de migración</a:t>
            </a:r>
            <a:endParaRPr lang="en-US" sz="1100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</a:rPr>
              <a:t>•</a:t>
            </a:r>
            <a:r>
              <a:rPr lang="en-US" sz="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 dirty="0">
                <a:solidFill>
                  <a:schemeClr val="dk1"/>
                </a:solidFill>
              </a:rPr>
              <a:t>Estado: </a:t>
            </a:r>
            <a:r>
              <a:rPr lang="en-US" sz="1100" dirty="0" err="1">
                <a:solidFill>
                  <a:schemeClr val="dk1"/>
                </a:solidFill>
              </a:rPr>
              <a:t>Aceptado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</a:rPr>
              <a:t>•</a:t>
            </a:r>
            <a:r>
              <a:rPr lang="en-US" sz="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 dirty="0" err="1">
                <a:solidFill>
                  <a:schemeClr val="dk1"/>
                </a:solidFill>
              </a:rPr>
              <a:t>Fecha</a:t>
            </a:r>
            <a:r>
              <a:rPr lang="en-US" sz="1100" b="1" dirty="0">
                <a:solidFill>
                  <a:schemeClr val="dk1"/>
                </a:solidFill>
              </a:rPr>
              <a:t>: </a:t>
            </a:r>
            <a:r>
              <a:rPr lang="en-US" sz="1100" dirty="0">
                <a:solidFill>
                  <a:schemeClr val="dk1"/>
                </a:solidFill>
              </a:rPr>
              <a:t>2026-06-05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28600">
              <a:lnSpc>
                <a:spcPct val="115000"/>
              </a:lnSpc>
              <a:spcBef>
                <a:spcPts val="200"/>
              </a:spcBef>
            </a:pPr>
            <a:r>
              <a:rPr lang="en-US" sz="1100" dirty="0">
                <a:solidFill>
                  <a:schemeClr val="dk1"/>
                </a:solidFill>
              </a:rPr>
              <a:t>•</a:t>
            </a:r>
            <a:r>
              <a:rPr lang="en-US" sz="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 dirty="0" err="1">
                <a:solidFill>
                  <a:schemeClr val="dk1"/>
                </a:solidFill>
              </a:rPr>
              <a:t>Autores</a:t>
            </a:r>
            <a:r>
              <a:rPr lang="en-US" sz="1100" b="1" dirty="0">
                <a:solidFill>
                  <a:schemeClr val="dk1"/>
                </a:solidFill>
              </a:rPr>
              <a:t>: </a:t>
            </a:r>
            <a:r>
              <a:rPr lang="en-US" b="1" dirty="0"/>
              <a:t>: </a:t>
            </a:r>
            <a:r>
              <a:rPr lang="en-US" sz="1100" dirty="0" err="1">
                <a:solidFill>
                  <a:schemeClr val="dk1"/>
                </a:solidFill>
              </a:rPr>
              <a:t>Líder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técnico</a:t>
            </a:r>
            <a:endParaRPr lang="en-US" sz="1100" dirty="0">
              <a:solidFill>
                <a:schemeClr val="dk1"/>
              </a:solidFill>
            </a:endParaRPr>
          </a:p>
          <a:p>
            <a:pPr marL="457200" lvl="0" indent="-228600">
              <a:lnSpc>
                <a:spcPct val="115000"/>
              </a:lnSpc>
              <a:spcBef>
                <a:spcPts val="200"/>
              </a:spcBef>
            </a:pPr>
            <a:r>
              <a:rPr lang="en-US" sz="1100" dirty="0">
                <a:solidFill>
                  <a:schemeClr val="dk1"/>
                </a:solidFill>
              </a:rPr>
              <a:t>•</a:t>
            </a:r>
            <a:r>
              <a:rPr lang="en-US" sz="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 dirty="0" err="1">
                <a:solidFill>
                  <a:schemeClr val="dk1"/>
                </a:solidFill>
              </a:rPr>
              <a:t>Revisores</a:t>
            </a:r>
            <a:r>
              <a:rPr lang="en-US" sz="1100" b="1" dirty="0">
                <a:solidFill>
                  <a:schemeClr val="dk1"/>
                </a:solidFill>
              </a:rPr>
              <a:t>: </a:t>
            </a:r>
            <a:r>
              <a:rPr lang="en-US" sz="1100" dirty="0" err="1">
                <a:solidFill>
                  <a:schemeClr val="dk1"/>
                </a:solidFill>
              </a:rPr>
              <a:t>Arquitecto</a:t>
            </a:r>
            <a:r>
              <a:rPr lang="en-US" sz="1100" dirty="0">
                <a:solidFill>
                  <a:schemeClr val="dk1"/>
                </a:solidFill>
              </a:rPr>
              <a:t> principal</a:t>
            </a:r>
          </a:p>
          <a:p>
            <a:pPr marL="457200" lvl="0" indent="-228600">
              <a:lnSpc>
                <a:spcPct val="115000"/>
              </a:lnSpc>
              <a:spcBef>
                <a:spcPts val="200"/>
              </a:spcBef>
            </a:pPr>
            <a:r>
              <a:rPr lang="en-US" sz="1100" dirty="0">
                <a:solidFill>
                  <a:schemeClr val="dk1"/>
                </a:solidFill>
              </a:rPr>
              <a:t>•</a:t>
            </a:r>
            <a:r>
              <a:rPr lang="en-US" sz="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 dirty="0" err="1">
                <a:solidFill>
                  <a:schemeClr val="dk1"/>
                </a:solidFill>
              </a:rPr>
              <a:t>Número</a:t>
            </a:r>
            <a:r>
              <a:rPr lang="en-US" sz="1100" b="1" dirty="0">
                <a:solidFill>
                  <a:schemeClr val="dk1"/>
                </a:solidFill>
              </a:rPr>
              <a:t> ADR: </a:t>
            </a:r>
            <a:r>
              <a:rPr lang="en-US" sz="1100" dirty="0">
                <a:solidFill>
                  <a:schemeClr val="dk1"/>
                </a:solidFill>
              </a:rPr>
              <a:t>ADR-003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21" name="Google Shape;221;g3e8d4efe4bf_1_13"/>
          <p:cNvSpPr txBox="1"/>
          <p:nvPr/>
        </p:nvSpPr>
        <p:spPr>
          <a:xfrm>
            <a:off x="188225" y="2758017"/>
            <a:ext cx="4833712" cy="285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dk1"/>
                </a:solidFill>
              </a:rPr>
              <a:t>Contexto</a:t>
            </a:r>
            <a:r>
              <a:rPr lang="en-US" b="1" dirty="0">
                <a:solidFill>
                  <a:schemeClr val="dk1"/>
                </a:solidFill>
              </a:rPr>
              <a:t> y Declaración del </a:t>
            </a:r>
            <a:r>
              <a:rPr lang="en-US" b="1" dirty="0" err="1">
                <a:solidFill>
                  <a:schemeClr val="dk1"/>
                </a:solidFill>
              </a:rPr>
              <a:t>Problema</a:t>
            </a:r>
            <a:endParaRPr lang="en-US" b="1" dirty="0">
              <a:solidFill>
                <a:schemeClr val="dk1"/>
              </a:solidFill>
            </a:endParaRPr>
          </a:p>
          <a:p>
            <a:pPr lvl="0">
              <a:lnSpc>
                <a:spcPct val="115000"/>
              </a:lnSpc>
              <a:spcBef>
                <a:spcPts val="1800"/>
              </a:spcBef>
            </a:pPr>
            <a:r>
              <a:rPr lang="es-PE" sz="1200" dirty="0"/>
              <a:t>Debido al tamaño, complejidad y criticidad del sistema, no resulta viable reemplazar el monolito mediante una estrategia “Big Bang”, ya que ello incrementaría significativamente el riesgo de interrupción del servicio y afectación a clientes. Se requiere una estrategia de modernización progresiva que permita coexistencia entre componentes heredados y nuevos servicios durante el proceso de transición</a:t>
            </a:r>
            <a:endParaRPr lang="en-US"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</p:txBody>
      </p:sp>
      <p:sp>
        <p:nvSpPr>
          <p:cNvPr id="222" name="Google Shape;222;g3e8d4efe4bf_1_13"/>
          <p:cNvSpPr txBox="1"/>
          <p:nvPr/>
        </p:nvSpPr>
        <p:spPr>
          <a:xfrm>
            <a:off x="4996569" y="1865189"/>
            <a:ext cx="4205004" cy="4062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Decisión</a:t>
            </a:r>
            <a:endParaRPr lang="en-US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07916"/>
              </a:lnSpc>
              <a:spcBef>
                <a:spcPts val="1800"/>
              </a:spcBef>
            </a:pPr>
            <a:r>
              <a:rPr lang="es-PE" sz="1100" dirty="0"/>
              <a:t>Se adopta la estrategia </a:t>
            </a:r>
            <a:r>
              <a:rPr lang="es-PE" sz="1100" dirty="0" err="1"/>
              <a:t>Strangler</a:t>
            </a:r>
            <a:r>
              <a:rPr lang="es-PE" sz="1100" dirty="0"/>
              <a:t> Fig </a:t>
            </a:r>
            <a:r>
              <a:rPr lang="es-PE" sz="1100" dirty="0" err="1"/>
              <a:t>Pattern</a:t>
            </a:r>
            <a:r>
              <a:rPr lang="es-PE" sz="1100" dirty="0"/>
              <a:t> como enfoque oficial de modernización de la plataforma.</a:t>
            </a:r>
          </a:p>
          <a:p>
            <a:pPr lvl="0">
              <a:lnSpc>
                <a:spcPct val="107916"/>
              </a:lnSpc>
              <a:spcBef>
                <a:spcPts val="1800"/>
              </a:spcBef>
            </a:pPr>
            <a:r>
              <a:rPr lang="es-PE" sz="1100" dirty="0"/>
              <a:t>El API Gateway actuará como capa de enrutamiento inteligente, permitiendo dirigir solicitudes hacia el monolito o hacia los nuevos microservicios según el estado de migración de cada dominio</a:t>
            </a:r>
          </a:p>
          <a:p>
            <a:pPr lvl="0">
              <a:lnSpc>
                <a:spcPct val="107916"/>
              </a:lnSpc>
              <a:spcBef>
                <a:spcPts val="1800"/>
              </a:spcBef>
            </a:pPr>
            <a:r>
              <a:rPr lang="es-PE" sz="1100" dirty="0"/>
              <a:t>Para acelerar la modernización se utilizará GitHub </a:t>
            </a:r>
            <a:r>
              <a:rPr lang="es-PE" sz="1100" dirty="0" err="1"/>
              <a:t>Copilot</a:t>
            </a:r>
            <a:r>
              <a:rPr lang="es-PE" sz="1100" dirty="0"/>
              <a:t> App </a:t>
            </a:r>
            <a:r>
              <a:rPr lang="es-PE" sz="1100" dirty="0" err="1"/>
              <a:t>Modernization</a:t>
            </a:r>
            <a:r>
              <a:rPr lang="es-PE" sz="1100" dirty="0"/>
              <a:t> basado en Claude 3.5 Sonnet, complementado con </a:t>
            </a:r>
            <a:r>
              <a:rPr lang="es-PE" sz="1100" dirty="0" err="1"/>
              <a:t>Custom</a:t>
            </a:r>
            <a:r>
              <a:rPr lang="es-PE" sz="1100" dirty="0"/>
              <a:t> </a:t>
            </a:r>
            <a:r>
              <a:rPr lang="es-PE" sz="1100" dirty="0" err="1"/>
              <a:t>Skills</a:t>
            </a:r>
            <a:r>
              <a:rPr lang="es-PE" sz="1100" dirty="0"/>
              <a:t> y </a:t>
            </a:r>
            <a:r>
              <a:rPr lang="es-PE" sz="1100" dirty="0" err="1"/>
              <a:t>Rulebooks</a:t>
            </a:r>
            <a:r>
              <a:rPr lang="es-PE" sz="1100" dirty="0"/>
              <a:t> </a:t>
            </a:r>
          </a:p>
          <a:p>
            <a:pPr lvl="0">
              <a:lnSpc>
                <a:spcPct val="107916"/>
              </a:lnSpc>
              <a:spcBef>
                <a:spcPts val="1800"/>
              </a:spcBef>
            </a:pPr>
            <a:endParaRPr lang="es-PE" dirty="0"/>
          </a:p>
          <a:p>
            <a:pPr lvl="0">
              <a:lnSpc>
                <a:spcPct val="107916"/>
              </a:lnSpc>
              <a:spcBef>
                <a:spcPts val="1800"/>
              </a:spcBef>
            </a:pPr>
            <a:r>
              <a:rPr lang="es-PE" dirty="0"/>
              <a:t>.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FAADA3-69F7-68F8-7A7E-42F09BD86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111" y="692442"/>
            <a:ext cx="3323556" cy="1246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>
          <a:extLst>
            <a:ext uri="{FF2B5EF4-FFF2-40B4-BE49-F238E27FC236}">
              <a16:creationId xmlns:a16="http://schemas.microsoft.com/office/drawing/2014/main" id="{047B738A-10B9-FF27-58D6-0FDA5D9C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g3e8d4efe4bf_1_13">
            <a:extLst>
              <a:ext uri="{FF2B5EF4-FFF2-40B4-BE49-F238E27FC236}">
                <a16:creationId xmlns:a16="http://schemas.microsoft.com/office/drawing/2014/main" id="{C5BF8A88-A827-3201-D577-64B5C503AA74}"/>
              </a:ext>
            </a:extLst>
          </p:cNvPr>
          <p:cNvGrpSpPr/>
          <p:nvPr/>
        </p:nvGrpSpPr>
        <p:grpSpPr>
          <a:xfrm>
            <a:off x="141321" y="51950"/>
            <a:ext cx="8900110" cy="443100"/>
            <a:chOff x="2261060" y="103898"/>
            <a:chExt cx="4206300" cy="329100"/>
          </a:xfrm>
        </p:grpSpPr>
        <p:sp>
          <p:nvSpPr>
            <p:cNvPr id="218" name="Google Shape;218;g3e8d4efe4bf_1_13">
              <a:extLst>
                <a:ext uri="{FF2B5EF4-FFF2-40B4-BE49-F238E27FC236}">
                  <a16:creationId xmlns:a16="http://schemas.microsoft.com/office/drawing/2014/main" id="{8F068ED4-F3D0-EF00-51E6-A9DE92433CD6}"/>
                </a:ext>
              </a:extLst>
            </p:cNvPr>
            <p:cNvSpPr/>
            <p:nvPr/>
          </p:nvSpPr>
          <p:spPr>
            <a:xfrm>
              <a:off x="2261060" y="103898"/>
              <a:ext cx="4206300" cy="329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193450" tIns="193450" rIns="193450" bIns="193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g3e8d4efe4bf_1_13">
              <a:extLst>
                <a:ext uri="{FF2B5EF4-FFF2-40B4-BE49-F238E27FC236}">
                  <a16:creationId xmlns:a16="http://schemas.microsoft.com/office/drawing/2014/main" id="{25CF638D-3506-414D-D1F8-34016E19DD6E}"/>
                </a:ext>
              </a:extLst>
            </p:cNvPr>
            <p:cNvSpPr/>
            <p:nvPr/>
          </p:nvSpPr>
          <p:spPr>
            <a:xfrm>
              <a:off x="2352500" y="103898"/>
              <a:ext cx="40233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93"/>
                <a:buFont typeface="Calibri"/>
                <a:buNone/>
              </a:pPr>
              <a:r>
                <a:rPr lang="en-US" sz="1693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ADR-0</a:t>
              </a:r>
              <a:r>
                <a:rPr lang="en-US" sz="1693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US" sz="1693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·  Orquestación: Azure Kubernetes Service (AKS)</a:t>
              </a:r>
              <a:endPara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g3e8d4efe4bf_1_13">
            <a:extLst>
              <a:ext uri="{FF2B5EF4-FFF2-40B4-BE49-F238E27FC236}">
                <a16:creationId xmlns:a16="http://schemas.microsoft.com/office/drawing/2014/main" id="{F42DC9FB-30DA-2517-AE8C-6721F97DC8F7}"/>
              </a:ext>
            </a:extLst>
          </p:cNvPr>
          <p:cNvSpPr txBox="1"/>
          <p:nvPr/>
        </p:nvSpPr>
        <p:spPr>
          <a:xfrm>
            <a:off x="188225" y="683975"/>
            <a:ext cx="4083600" cy="25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Información del Documento</a:t>
            </a:r>
            <a:endParaRPr b="1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</a:rPr>
              <a:t>Título: </a:t>
            </a:r>
            <a:r>
              <a:rPr lang="en-US" sz="1100">
                <a:solidFill>
                  <a:schemeClr val="dk1"/>
                </a:solidFill>
              </a:rPr>
              <a:t>Adopción de Azure Kubernetes Service (AKS) como plataforma de orquestación de contenedores para microservicios de la Entidad Financiera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</a:rPr>
              <a:t>Estado: </a:t>
            </a:r>
            <a:r>
              <a:rPr lang="en-US" sz="1100">
                <a:solidFill>
                  <a:schemeClr val="dk1"/>
                </a:solidFill>
              </a:rPr>
              <a:t>Aceptado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</a:rPr>
              <a:t>Fecha: </a:t>
            </a:r>
            <a:r>
              <a:rPr lang="en-US" sz="1100">
                <a:solidFill>
                  <a:schemeClr val="dk1"/>
                </a:solidFill>
              </a:rPr>
              <a:t>2026-06-05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</a:rPr>
              <a:t>Autores: </a:t>
            </a:r>
            <a:r>
              <a:rPr lang="en-US" sz="1100">
                <a:solidFill>
                  <a:schemeClr val="dk1"/>
                </a:solidFill>
              </a:rPr>
              <a:t>Arquitecto Principal — Equipo de Arquitectura, Entidad Financiera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</a:rPr>
              <a:t>Revisores: </a:t>
            </a:r>
            <a:r>
              <a:rPr lang="en-US" sz="1100">
                <a:solidFill>
                  <a:schemeClr val="dk1"/>
                </a:solidFill>
              </a:rPr>
              <a:t>Arquitecto de Infraestructura Cloud, Líder Técnico DevOps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</a:rPr>
              <a:t>Número ADR: </a:t>
            </a:r>
            <a:r>
              <a:rPr lang="en-US" sz="1100">
                <a:solidFill>
                  <a:schemeClr val="dk1"/>
                </a:solidFill>
              </a:rPr>
              <a:t>ADR-003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1" name="Google Shape;221;g3e8d4efe4bf_1_13">
            <a:extLst>
              <a:ext uri="{FF2B5EF4-FFF2-40B4-BE49-F238E27FC236}">
                <a16:creationId xmlns:a16="http://schemas.microsoft.com/office/drawing/2014/main" id="{387E926C-E748-7687-E845-981E257CBACB}"/>
              </a:ext>
            </a:extLst>
          </p:cNvPr>
          <p:cNvSpPr txBox="1"/>
          <p:nvPr/>
        </p:nvSpPr>
        <p:spPr>
          <a:xfrm>
            <a:off x="292175" y="3406700"/>
            <a:ext cx="3875700" cy="14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. Contexto y Declaración del Problema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monolítica (Spring Boot,Java 17, AS400 DB2)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migración hacia microservicios en Azure exige una plataforma de orquestación que gestione el ciclo de vida de múltiples contenedores de forma automatizada. </a:t>
            </a:r>
            <a:endParaRPr/>
          </a:p>
        </p:txBody>
      </p:sp>
      <p:sp>
        <p:nvSpPr>
          <p:cNvPr id="222" name="Google Shape;222;g3e8d4efe4bf_1_13">
            <a:extLst>
              <a:ext uri="{FF2B5EF4-FFF2-40B4-BE49-F238E27FC236}">
                <a16:creationId xmlns:a16="http://schemas.microsoft.com/office/drawing/2014/main" id="{EC53481D-69B8-ADC7-60C1-0A83F15F8848}"/>
              </a:ext>
            </a:extLst>
          </p:cNvPr>
          <p:cNvSpPr txBox="1"/>
          <p:nvPr/>
        </p:nvSpPr>
        <p:spPr>
          <a:xfrm>
            <a:off x="4495775" y="2485675"/>
            <a:ext cx="4483200" cy="24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Decisión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-228600" algn="l" rtl="0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SLA mínimo de 99.9% 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-228600" algn="l" rtl="0">
              <a:lnSpc>
                <a:spcPct val="10791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 picos de demanda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-228600" algn="l" rtl="0">
              <a:lnSpc>
                <a:spcPct val="10791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Segregación de cargas: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Separación entre workloads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-228600" algn="l" rtl="0">
              <a:lnSpc>
                <a:spcPct val="10791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Azure nativa: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Compatibilidad con Container Registry y Monitor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-228600" algn="l" rtl="0">
              <a:lnSpc>
                <a:spcPct val="10791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Observabilidad: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Prometheus y Azure Monitor Workspace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-228600" algn="l" rtl="0">
              <a:lnSpc>
                <a:spcPct val="10791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Portabilidad futura: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 vendor lock-in a nivel de orquestación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-228600" algn="l" rtl="0">
              <a:lnSpc>
                <a:spcPct val="107916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Compatibilidad con el stack actual: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Soporte a contenedores Java basados en Spring Boot</a:t>
            </a:r>
            <a:endParaRPr/>
          </a:p>
        </p:txBody>
      </p:sp>
      <p:pic>
        <p:nvPicPr>
          <p:cNvPr id="223" name="Google Shape;223;g3e8d4efe4bf_1_13">
            <a:extLst>
              <a:ext uri="{FF2B5EF4-FFF2-40B4-BE49-F238E27FC236}">
                <a16:creationId xmlns:a16="http://schemas.microsoft.com/office/drawing/2014/main" id="{2F4E37B6-FBD5-2FA3-C69F-3E9832BEC7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2275" y="1029275"/>
            <a:ext cx="4391025" cy="1171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5777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g3ea5d3e9db5_3_0"/>
          <p:cNvGrpSpPr/>
          <p:nvPr/>
        </p:nvGrpSpPr>
        <p:grpSpPr>
          <a:xfrm>
            <a:off x="141321" y="51950"/>
            <a:ext cx="8900110" cy="443100"/>
            <a:chOff x="2261060" y="103898"/>
            <a:chExt cx="4206300" cy="329100"/>
          </a:xfrm>
        </p:grpSpPr>
        <p:sp>
          <p:nvSpPr>
            <p:cNvPr id="230" name="Google Shape;230;g3ea5d3e9db5_3_0"/>
            <p:cNvSpPr/>
            <p:nvPr/>
          </p:nvSpPr>
          <p:spPr>
            <a:xfrm>
              <a:off x="2261060" y="103898"/>
              <a:ext cx="4206300" cy="3291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193450" tIns="193450" rIns="193450" bIns="193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g3ea5d3e9db5_3_0"/>
            <p:cNvSpPr/>
            <p:nvPr/>
          </p:nvSpPr>
          <p:spPr>
            <a:xfrm>
              <a:off x="2352500" y="103898"/>
              <a:ext cx="4023300" cy="32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93"/>
                <a:buFont typeface="Calibri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ADR-0</a:t>
              </a:r>
              <a:r>
                <a:rPr lang="en-US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r>
                <a:rPr lang="en-US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·  </a:t>
              </a:r>
              <a:r>
                <a:rPr lang="en-US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Estrategia de Migración de Base de Datos IBM DB2 for i (AS/400) hacia el Database per Service</a:t>
              </a:r>
              <a:endPara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g3ea5d3e9db5_3_0"/>
          <p:cNvSpPr txBox="1"/>
          <p:nvPr/>
        </p:nvSpPr>
        <p:spPr>
          <a:xfrm>
            <a:off x="188225" y="683975"/>
            <a:ext cx="4083600" cy="2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Información del Documento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Título:</a:t>
            </a:r>
            <a:r>
              <a:rPr lang="en-US" sz="1100">
                <a:solidFill>
                  <a:schemeClr val="dk1"/>
                </a:solidFill>
              </a:rPr>
              <a:t> Migración de IBM DB2 for i (AS/400) hacia una Arquitectura Database per Service para Microservicios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Estado:</a:t>
            </a:r>
            <a:r>
              <a:rPr lang="en-US" sz="1100">
                <a:solidFill>
                  <a:schemeClr val="dk1"/>
                </a:solidFill>
              </a:rPr>
              <a:t> Aceptado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Fecha:</a:t>
            </a:r>
            <a:r>
              <a:rPr lang="en-US" sz="1100">
                <a:solidFill>
                  <a:schemeClr val="dk1"/>
                </a:solidFill>
              </a:rPr>
              <a:t> 2026-06-08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Autores:</a:t>
            </a:r>
            <a:r>
              <a:rPr lang="en-US" sz="1100">
                <a:solidFill>
                  <a:schemeClr val="dk1"/>
                </a:solidFill>
              </a:rPr>
              <a:t> Arquitecto de Datos — Equipo de Arquitectura de la Entidad Financiera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Revisores:</a:t>
            </a:r>
            <a:r>
              <a:rPr lang="en-US" sz="1100">
                <a:solidFill>
                  <a:schemeClr val="dk1"/>
                </a:solidFill>
              </a:rPr>
              <a:t> Arquitecto Principal, Arquitecto de Integración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Número ADR:</a:t>
            </a:r>
            <a:r>
              <a:rPr lang="en-US" sz="1100">
                <a:solidFill>
                  <a:schemeClr val="dk1"/>
                </a:solidFill>
              </a:rPr>
              <a:t> ADR-005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233" name="Google Shape;233;g3ea5d3e9db5_3_0"/>
          <p:cNvSpPr txBox="1"/>
          <p:nvPr/>
        </p:nvSpPr>
        <p:spPr>
          <a:xfrm>
            <a:off x="188225" y="2944550"/>
            <a:ext cx="4890300" cy="24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. Contexto y Declaración del Problema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Arquitectura monolítica desarrollada en Java 17 y Spring Boot con base de datos </a:t>
            </a:r>
            <a:r>
              <a:rPr lang="en-US" sz="1000" b="1">
                <a:solidFill>
                  <a:schemeClr val="dk1"/>
                </a:solidFill>
              </a:rPr>
              <a:t>IBM DB2 for i (AS/400)</a:t>
            </a:r>
            <a:r>
              <a:rPr lang="en-US" sz="1000">
                <a:solidFill>
                  <a:schemeClr val="dk1"/>
                </a:solidFill>
              </a:rPr>
              <a:t> compartida entre todos los módulos de negocio.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La dependencia de una base de datos centralizada genera alto acoplamiento entre dominios, dificulta la evolución independiente de funcionalidades y limita la adopción de una arquitectura moderna basada en microservicios.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La estrategia de migración busca desacoplar progresivamente los datos y reducir la dependencia tecnológica del entorno AS/400.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ea5d3e9db5_3_0"/>
          <p:cNvSpPr txBox="1"/>
          <p:nvPr/>
        </p:nvSpPr>
        <p:spPr>
          <a:xfrm>
            <a:off x="5078525" y="828050"/>
            <a:ext cx="3900600" cy="27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Decisión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b="1">
                <a:solidFill>
                  <a:schemeClr val="dk1"/>
                </a:solidFill>
              </a:rPr>
              <a:t>Adoptar el patrón Database per Service</a:t>
            </a:r>
            <a:r>
              <a:rPr lang="en-US" sz="900">
                <a:solidFill>
                  <a:schemeClr val="dk1"/>
                </a:solidFill>
              </a:rPr>
              <a:t>, donde cada microservicio será propietario de su propia base de datos.La migración se realizará de forma incremental mediante el patrón </a:t>
            </a:r>
            <a:r>
              <a:rPr lang="en-US" sz="900" b="1">
                <a:solidFill>
                  <a:schemeClr val="dk1"/>
                </a:solidFill>
              </a:rPr>
              <a:t>Strangler Fig</a:t>
            </a:r>
            <a:r>
              <a:rPr lang="en-US" sz="900">
                <a:solidFill>
                  <a:schemeClr val="dk1"/>
                </a:solidFill>
              </a:rPr>
              <a:t>, manteniendo coexistencia temporal entre IBM DB2 for i y las nuevas bases de datos.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Distribución propuesta: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Cuentas Service:</a:t>
            </a:r>
            <a:r>
              <a:rPr lang="en-US" sz="900">
                <a:solidFill>
                  <a:schemeClr val="dk1"/>
                </a:solidFill>
              </a:rPr>
              <a:t> PostgreSQL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Pagos Service:</a:t>
            </a:r>
            <a:r>
              <a:rPr lang="en-US" sz="900">
                <a:solidFill>
                  <a:schemeClr val="dk1"/>
                </a:solidFill>
              </a:rPr>
              <a:t> Azure SQL + Redis Cache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Puntos Service:</a:t>
            </a:r>
            <a:r>
              <a:rPr lang="en-US" sz="900">
                <a:solidFill>
                  <a:schemeClr val="dk1"/>
                </a:solidFill>
              </a:rPr>
              <a:t> Azure Cosmos DB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Auth Service:</a:t>
            </a:r>
            <a:r>
              <a:rPr lang="en-US" sz="900">
                <a:solidFill>
                  <a:schemeClr val="dk1"/>
                </a:solidFill>
              </a:rPr>
              <a:t> Azure AD B2C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Notificaciones Service:</a:t>
            </a:r>
            <a:r>
              <a:rPr lang="en-US" sz="900">
                <a:solidFill>
                  <a:schemeClr val="dk1"/>
                </a:solidFill>
              </a:rPr>
              <a:t> Azure Table Storage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8d4efe4bf_1_43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e8d4efe4bf_1_43"/>
          <p:cNvSpPr/>
          <p:nvPr/>
        </p:nvSpPr>
        <p:spPr>
          <a:xfrm>
            <a:off x="365760" y="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REFERENCIAS BIBLIOGRÁFICAS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8d4efe4bf_1_43"/>
          <p:cNvSpPr/>
          <p:nvPr/>
        </p:nvSpPr>
        <p:spPr>
          <a:xfrm>
            <a:off x="0" y="777240"/>
            <a:ext cx="9144000" cy="549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e8d4efe4bf_1_43"/>
          <p:cNvSpPr/>
          <p:nvPr/>
        </p:nvSpPr>
        <p:spPr>
          <a:xfrm>
            <a:off x="460400" y="1010750"/>
            <a:ext cx="7812000" cy="3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457200" lvl="0" indent="-2825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1100" b="1">
                <a:solidFill>
                  <a:schemeClr val="dk1"/>
                </a:solidFill>
              </a:rPr>
              <a:t>[1] Caso real de banco — El más importante</a:t>
            </a:r>
            <a:r>
              <a:rPr lang="en-US" sz="1100">
                <a:solidFill>
                  <a:schemeClr val="dk1"/>
                </a:solidFill>
              </a:rPr>
              <a:t> Bucchiarone, A., Dragoni, N., Dustdar, S., Larsen, S. T., &amp; Mazzara, M. (2018). </a:t>
            </a:r>
            <a:r>
              <a:rPr lang="en-US" sz="1100" i="1">
                <a:solidFill>
                  <a:schemeClr val="dk1"/>
                </a:solidFill>
              </a:rPr>
              <a:t>From Monolithic to Microservices: An Experience Report from the Banking Domain.</a:t>
            </a:r>
            <a:r>
              <a:rPr lang="en-US" sz="1100">
                <a:solidFill>
                  <a:schemeClr val="dk1"/>
                </a:solidFill>
              </a:rPr>
              <a:t> IEEE Software, 35(3), 50–55. 🔗 </a:t>
            </a:r>
            <a:r>
              <a:rPr lang="en-US" sz="1100" b="1">
                <a:solidFill>
                  <a:schemeClr val="dk1"/>
                </a:solidFill>
              </a:rPr>
              <a:t>DOI: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https://doi.org/10.1109/MS.2018.2141026</a:t>
            </a:r>
            <a:r>
              <a:rPr lang="en-US" sz="1100">
                <a:solidFill>
                  <a:schemeClr val="dk1"/>
                </a:solidFill>
              </a:rPr>
              <a:t> 🔗 </a:t>
            </a:r>
            <a:r>
              <a:rPr lang="en-US" sz="1100" b="1">
                <a:solidFill>
                  <a:schemeClr val="dk1"/>
                </a:solidFill>
              </a:rPr>
              <a:t>IEEE Xplore: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https://ieeexplore.ieee.org/document/8354415</a:t>
            </a:r>
            <a:r>
              <a:rPr lang="en-US" sz="1100">
                <a:solidFill>
                  <a:schemeClr val="dk1"/>
                </a:solidFill>
              </a:rPr>
              <a:t> 🔗 </a:t>
            </a:r>
            <a:r>
              <a:rPr lang="en-US" sz="1100" b="1">
                <a:solidFill>
                  <a:schemeClr val="dk1"/>
                </a:solidFill>
              </a:rPr>
              <a:t>ResearchGate (PDF libre):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5"/>
              </a:rPr>
              <a:t>https://www.researchgate.net/publication/324959098</a:t>
            </a:r>
            <a:endParaRPr sz="1100" u="sng">
              <a:solidFill>
                <a:schemeClr val="hlink"/>
              </a:solidFill>
            </a:endParaRPr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Caso real de Danske Bank migrando el sistema FX Core de arquitectura monolítica a microservicios, demostrando cómo la escalabilidad mejora positivamente con esta transición.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6"/>
              </a:rPr>
              <a:t>IEEE Xplore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1100" b="1">
                <a:solidFill>
                  <a:schemeClr val="dk1"/>
                </a:solidFill>
              </a:rPr>
              <a:t>[2] AKS específico — IEEE Xplore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 i="1">
                <a:solidFill>
                  <a:schemeClr val="dk1"/>
                </a:solidFill>
              </a:rPr>
              <a:t>Scalable Microservices Architecture Using Azure Kubernetes Service (AKS).</a:t>
            </a:r>
            <a:r>
              <a:rPr lang="en-US" sz="1100">
                <a:solidFill>
                  <a:schemeClr val="dk1"/>
                </a:solidFill>
              </a:rPr>
              <a:t> IEEE Conference Publication. 🔗 </a:t>
            </a:r>
            <a:r>
              <a:rPr lang="en-US" sz="1100" b="1">
                <a:solidFill>
                  <a:schemeClr val="dk1"/>
                </a:solidFill>
              </a:rPr>
              <a:t>IEEE Xplore: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7"/>
              </a:rPr>
              <a:t>https://ieeexplore.ieee.org/document/11157964</a:t>
            </a:r>
            <a:endParaRPr sz="1100" u="sng">
              <a:solidFill>
                <a:schemeClr val="hlink"/>
              </a:solidFill>
            </a:endParaRPr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Explora la escalabilidad de arquitecturas de microservicios usando AKS, comparándolo con AWS EKS y Google GKE en capacidades de escalado, load balancing y service discovery.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8"/>
              </a:rPr>
              <a:t>IEEE Xplore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82575" algn="l" rtl="0">
              <a:spcBef>
                <a:spcPts val="500"/>
              </a:spcBef>
              <a:spcAft>
                <a:spcPts val="0"/>
              </a:spcAft>
              <a:buSzPts val="850"/>
              <a:buFont typeface="Calibri"/>
              <a:buChar char="●"/>
            </a:pPr>
            <a:r>
              <a:rPr lang="en-US" sz="1100" b="1">
                <a:solidFill>
                  <a:schemeClr val="dk1"/>
                </a:solidFill>
              </a:rPr>
              <a:t>[3] </a:t>
            </a:r>
            <a:r>
              <a:rPr lang="en-US" sz="850">
                <a:solidFill>
                  <a:schemeClr val="dk1"/>
                </a:solidFill>
              </a:rPr>
              <a:t>BOLETIN SBS </a:t>
            </a:r>
            <a:r>
              <a:rPr lang="en-US" sz="1300" u="sng">
                <a:solidFill>
                  <a:schemeClr val="hlink"/>
                </a:solidFill>
                <a:hlinkClick r:id="rId9"/>
              </a:rPr>
              <a:t>https://www.sbs.gob.</a:t>
            </a:r>
            <a:r>
              <a:rPr lang="en-US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pe/boletin/detalleboletin/idbulletin/1147</a:t>
            </a:r>
            <a:endParaRPr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a5d3e9db5_0_25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ea5d3e9db5_0_25"/>
          <p:cNvSpPr/>
          <p:nvPr/>
        </p:nvSpPr>
        <p:spPr>
          <a:xfrm>
            <a:off x="365760" y="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REFERENCIAS BIBLIOGRÁFICAS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a5d3e9db5_0_25"/>
          <p:cNvSpPr/>
          <p:nvPr/>
        </p:nvSpPr>
        <p:spPr>
          <a:xfrm>
            <a:off x="0" y="777240"/>
            <a:ext cx="9144000" cy="549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ea5d3e9db5_0_25"/>
          <p:cNvSpPr/>
          <p:nvPr/>
        </p:nvSpPr>
        <p:spPr>
          <a:xfrm>
            <a:off x="647450" y="1166600"/>
            <a:ext cx="7812000" cy="39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457200" lvl="0" indent="-2825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1100" b="1">
                <a:solidFill>
                  <a:schemeClr val="dk1"/>
                </a:solidFill>
              </a:rPr>
              <a:t>[4] Banca y Kubernetes — MDPI Electronics 2026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 i="1">
                <a:solidFill>
                  <a:schemeClr val="dk1"/>
                </a:solidFill>
              </a:rPr>
              <a:t>Evaluating Middleware Performance in the Transition from Monolithic to Microservices Architecture for Banking Applications.</a:t>
            </a:r>
            <a:r>
              <a:rPr lang="en-US" sz="1100">
                <a:solidFill>
                  <a:schemeClr val="dk1"/>
                </a:solidFill>
              </a:rPr>
              <a:t> MDPI Electronics, enero 2026. 🔗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https://www.mdpi.com/2079-9292/15/1/221</a:t>
            </a:r>
            <a:endParaRPr sz="1100" u="sng">
              <a:solidFill>
                <a:schemeClr val="hlink"/>
              </a:solidFill>
            </a:endParaRPr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Demuestra que Kubernetes reduce tiempos de respuesta en 25% y produce una reducción del 40–50% en la carga promedio de CPU — especialmente crucial para sistemas financieros de alta demanda.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MDPI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1100" b="1">
                <a:solidFill>
                  <a:schemeClr val="dk1"/>
                </a:solidFill>
              </a:rPr>
              <a:t>[5] Arquitectura de Microservicios en AKS</a:t>
            </a:r>
            <a:r>
              <a:rPr lang="en-US" sz="1100">
                <a:solidFill>
                  <a:schemeClr val="dk1"/>
                </a:solidFill>
              </a:rPr>
              <a:t> Microsoft Azure Architecture Center. </a:t>
            </a:r>
            <a:r>
              <a:rPr lang="en-US" sz="1100" i="1">
                <a:solidFill>
                  <a:schemeClr val="dk1"/>
                </a:solidFill>
              </a:rPr>
              <a:t>Microservices Architecture on Azure Kubernetes Service.</a:t>
            </a:r>
            <a:r>
              <a:rPr lang="en-US" sz="1100">
                <a:solidFill>
                  <a:schemeClr val="dk1"/>
                </a:solidFill>
              </a:rPr>
              <a:t> 🔗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https://learn.microsoft.com/en-us/azure/architecture/reference-architectures/containers/aks-microservices/aks-microservices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1100" b="1">
                <a:solidFill>
                  <a:schemeClr val="dk1"/>
                </a:solidFill>
              </a:rPr>
              <a:t>[6] Arquitectura base AKS (Baseline)</a:t>
            </a:r>
            <a:r>
              <a:rPr lang="en-US" sz="1100">
                <a:solidFill>
                  <a:schemeClr val="dk1"/>
                </a:solidFill>
              </a:rPr>
              <a:t> Microsoft Azure Architecture Center. </a:t>
            </a:r>
            <a:r>
              <a:rPr lang="en-US" sz="1100" i="1">
                <a:solidFill>
                  <a:schemeClr val="dk1"/>
                </a:solidFill>
              </a:rPr>
              <a:t>Baseline Architecture for an AKS Cluster.</a:t>
            </a:r>
            <a:r>
              <a:rPr lang="en-US" sz="1100">
                <a:solidFill>
                  <a:schemeClr val="dk1"/>
                </a:solidFill>
              </a:rPr>
              <a:t> 🔗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5"/>
              </a:rPr>
              <a:t>https://learn.microsoft.com/en-us/azure/architecture/reference-architectures/containers/aks/baseline-aks</a:t>
            </a:r>
            <a:endParaRPr sz="1100" u="sng">
              <a:solidFill>
                <a:schemeClr val="hlink"/>
              </a:solidFill>
            </a:endParaRPr>
          </a:p>
          <a:p>
            <a:pPr marL="45720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57200" y="1870364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4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200400" y="2535798"/>
            <a:ext cx="2743200" cy="36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Arquitectura de Software · Clase 3 · Estudio de Caso Grupal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Roles del Equipo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274325" y="960125"/>
            <a:ext cx="2633400" cy="197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74320" y="1065103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Arquitecto SW Principal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731520" y="1421719"/>
            <a:ext cx="1828800" cy="2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384050" y="1522301"/>
            <a:ext cx="2523600" cy="14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Define la arquitectura general y los microservicios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Elabora los diagramas AS-IS y TO-BE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Toma y documenta las decisiones ADR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3182100" y="960123"/>
            <a:ext cx="2743200" cy="197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3182112" y="96012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3182112" y="1000324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Arquitecto de Datos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639312" y="1356940"/>
            <a:ext cx="1828800" cy="2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3291840" y="1457524"/>
            <a:ext cx="2523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Define la BD de cada microservicio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Documenta el patrón Database per Service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Diseña el modelo de consistencia eventual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Define estrategia de migración de datos Oracle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Evalúa Azure Cosmos DB vs PostgreSQL por servicio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089900" y="960123"/>
            <a:ext cx="2743200" cy="197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089904" y="96012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6089904" y="961456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4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A2E4A"/>
                </a:solidFill>
                <a:latin typeface="Calibri"/>
                <a:ea typeface="Calibri"/>
                <a:cs typeface="Calibri"/>
                <a:sym typeface="Calibri"/>
              </a:rPr>
              <a:t>Desarrolladores (2)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547104" y="1318072"/>
            <a:ext cx="1828800" cy="27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6199632" y="1418656"/>
            <a:ext cx="2523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Char char="•"/>
            </a:pPr>
            <a:r>
              <a:rPr lang="en-US" sz="8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Construyen y migran funcionalidades del monolito a microservicios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275" y="3173849"/>
            <a:ext cx="2560550" cy="173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2139</Words>
  <Application>Microsoft Office PowerPoint</Application>
  <PresentationFormat>Presentación en pantalla (16:9)</PresentationFormat>
  <Paragraphs>250</Paragraphs>
  <Slides>17</Slides>
  <Notes>17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Soto Carhuapoma, Erickson Alexis</cp:lastModifiedBy>
  <cp:revision>1</cp:revision>
  <dcterms:created xsi:type="dcterms:W3CDTF">2026-06-04T02:43:30Z</dcterms:created>
  <dcterms:modified xsi:type="dcterms:W3CDTF">2026-06-09T00:38:51Z</dcterms:modified>
</cp:coreProperties>
</file>